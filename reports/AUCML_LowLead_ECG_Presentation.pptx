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LogReg</c:v>
                </c:pt>
              </c:strCache>
            </c:strRef>
          </c:tx>
          <c:spPr>
            <a:solidFill>
              <a:srgbClr val="8E9AAF"/>
            </a:solidFill>
          </c:spPr>
          <c:cat>
            <c:strRef>
              <c:f>Sheet1!$A$2:$A$5</c:f>
              <c:strCache>
                <c:ptCount val="4"/>
                <c:pt idx="0">
                  <c:v>12-lead</c:v>
                </c:pt>
                <c:pt idx="1">
                  <c:v>6-lead</c:v>
                </c:pt>
                <c:pt idx="2">
                  <c:v>3-lead</c:v>
                </c:pt>
                <c:pt idx="3">
                  <c:v>1-lead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0.896555820047565</c:v>
                </c:pt>
                <c:pt idx="1">
                  <c:v>0.8684358289517247</c:v>
                </c:pt>
                <c:pt idx="2">
                  <c:v>0.8737830769032284</c:v>
                </c:pt>
                <c:pt idx="3">
                  <c:v>0.8127272538935767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RandomForest</c:v>
                </c:pt>
              </c:strCache>
            </c:strRef>
          </c:tx>
          <c:spPr>
            <a:solidFill>
              <a:srgbClr val="3D8B7D"/>
            </a:solidFill>
          </c:spPr>
          <c:cat>
            <c:strRef>
              <c:f>Sheet1!$A$2:$A$5</c:f>
              <c:strCache>
                <c:ptCount val="4"/>
                <c:pt idx="0">
                  <c:v>12-lead</c:v>
                </c:pt>
                <c:pt idx="1">
                  <c:v>6-lead</c:v>
                </c:pt>
                <c:pt idx="2">
                  <c:v>3-lead</c:v>
                </c:pt>
                <c:pt idx="3">
                  <c:v>1-lead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0.9101828993173683</c:v>
                </c:pt>
                <c:pt idx="1">
                  <c:v>0.8827281858044282</c:v>
                </c:pt>
                <c:pt idx="2">
                  <c:v>0.8874503416823998</c:v>
                </c:pt>
                <c:pt idx="3">
                  <c:v>0.82401296779944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Sheet1!$A$2:$A$5</c:f>
              <c:strCache>
                <c:ptCount val="4"/>
                <c:pt idx="0">
                  <c:v>12-lead</c:v>
                </c:pt>
                <c:pt idx="1">
                  <c:v>6-lead</c:v>
                </c:pt>
                <c:pt idx="2">
                  <c:v>3-lead</c:v>
                </c:pt>
                <c:pt idx="3">
                  <c:v>1-lead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0.924822818944563</c:v>
                </c:pt>
                <c:pt idx="1">
                  <c:v>0.8917621133406769</c:v>
                </c:pt>
                <c:pt idx="2">
                  <c:v>0.9014960909959566</c:v>
                </c:pt>
                <c:pt idx="3">
                  <c:v>0.8274190528756801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75"/>
        </c:scaling>
        <c:delete val="0"/>
        <c:axPos val="l"/>
        <c:majorGridlines>
          <c:spPr>
            <a:ln>
              <a:solidFill>
                <a:srgbClr val="E4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/>
                  <a:t>Macro AUROC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0.05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12-lead</c:v>
                </c:pt>
              </c:strCache>
            </c:strRef>
          </c:tx>
          <c:spPr>
            <a:ln w="34925">
              <a:solidFill>
                <a:srgbClr val="14365D"/>
              </a:solidFill>
            </a:ln>
          </c:spPr>
          <c:marker>
            <c:spPr>
              <a:solidFill>
                <a:srgbClr val="14365D"/>
              </a:solidFill>
              <a:ln>
                <a:solidFill>
                  <a:srgbClr val="14365D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24 dB</c:v>
                </c:pt>
                <c:pt idx="2">
                  <c:v>12 dB</c:v>
                </c:pt>
                <c:pt idx="3">
                  <c:v>6 dB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0.924822818944563</c:v>
                </c:pt>
                <c:pt idx="1">
                  <c:v>0.924064809016621</c:v>
                </c:pt>
                <c:pt idx="2">
                  <c:v>0.924078779701658</c:v>
                </c:pt>
                <c:pt idx="3">
                  <c:v>0.9181445918234526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6-lead</c:v>
                </c:pt>
              </c:strCache>
            </c:strRef>
          </c:tx>
          <c:spPr>
            <a:ln w="34925">
              <a:solidFill>
                <a:srgbClr val="2F6FA6"/>
              </a:solidFill>
            </a:ln>
          </c:spPr>
          <c:marker>
            <c:spPr>
              <a:solidFill>
                <a:srgbClr val="2F6FA6"/>
              </a:solidFill>
              <a:ln>
                <a:solidFill>
                  <a:srgbClr val="2F6FA6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24 dB</c:v>
                </c:pt>
                <c:pt idx="2">
                  <c:v>12 dB</c:v>
                </c:pt>
                <c:pt idx="3">
                  <c:v>6 dB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0.8917621133406769</c:v>
                </c:pt>
                <c:pt idx="1">
                  <c:v>0.8911750064040834</c:v>
                </c:pt>
                <c:pt idx="2">
                  <c:v>0.8913816566705949</c:v>
                </c:pt>
                <c:pt idx="3">
                  <c:v>0.8872099014550887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3-lead</c:v>
                </c:pt>
              </c:strCache>
            </c:strRef>
          </c:tx>
          <c:spPr>
            <a:ln w="34925">
              <a:solidFill>
                <a:srgbClr val="6AA6D6"/>
              </a:solidFill>
            </a:ln>
          </c:spPr>
          <c:marker>
            <c:spPr>
              <a:solidFill>
                <a:srgbClr val="6AA6D6"/>
              </a:solidFill>
              <a:ln>
                <a:solidFill>
                  <a:srgbClr val="6AA6D6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24 dB</c:v>
                </c:pt>
                <c:pt idx="2">
                  <c:v>12 dB</c:v>
                </c:pt>
                <c:pt idx="3">
                  <c:v>6 dB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0.9014960909959566</c:v>
                </c:pt>
                <c:pt idx="1">
                  <c:v>0.9014000380576158</c:v>
                </c:pt>
                <c:pt idx="2">
                  <c:v>0.8994768954850084</c:v>
                </c:pt>
                <c:pt idx="3">
                  <c:v>0.8918900764501739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1-lead</c:v>
                </c:pt>
              </c:strCache>
            </c:strRef>
          </c:tx>
          <c:spPr>
            <a:ln w="34925">
              <a:solidFill>
                <a:srgbClr val="E67E22"/>
              </a:solidFill>
            </a:ln>
          </c:spPr>
          <c:marker>
            <c:spPr>
              <a:solidFill>
                <a:srgbClr val="E67E22"/>
              </a:solidFill>
              <a:ln>
                <a:solidFill>
                  <a:srgbClr val="E67E2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24 dB</c:v>
                </c:pt>
                <c:pt idx="2">
                  <c:v>12 dB</c:v>
                </c:pt>
                <c:pt idx="3">
                  <c:v>6 dB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0.8274190528756801</c:v>
                </c:pt>
                <c:pt idx="1">
                  <c:v>0.8277304280974436</c:v>
                </c:pt>
                <c:pt idx="2">
                  <c:v>0.8268663539019048</c:v>
                </c:pt>
                <c:pt idx="3">
                  <c:v>0.8177485216984579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75"/>
        </c:scaling>
        <c:delete val="0"/>
        <c:axPos val="l"/>
        <c:majorGridlines>
          <c:spPr>
            <a:ln>
              <a:solidFill>
                <a:srgbClr val="E4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/>
                  <a:t>Macro AUROC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0.05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the project. One-line pitch: wearables record 1 to 6 ECG leads, hospitals use 12. We measure, on 21,000+ real clinical ECGs, how much screening accuracy survives when you throw leads away, and how noise and calibration change the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Phase-I idea was 'ECG classification'. Refinement: we turned it into a measurable question, accuracy retention as leads are removed, which is exactly the trade-off a wearable maker or a screening programme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 of scope: diagnosis, real wearable recordings, arrhythmia rhythm classes. Being explicit about scope is part of responsible ML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Attributes: signal (12 leads), age (mean 59), sex (52% male), SCP codes with likelihoods, and strat_fold. Folds are patient-wise and label-stratified, so the same patient never appears in train and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III, aVR, aVL and aVF are mathematically derived from I and II, which is why cheap 6-lead devices need only 3 electrodes. Noise is added only to the test set, so models trained on clean data are stressed like a deployed device would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hand-crafted features instead of a CNN? 2-credit course scope, CPU-only, and above all interpretability: SHAP on named clinical features (ST level, Q depth) can be checked against cardiology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Multi-label: one binary model per class (one-vs-rest). Every model is trained on folds 1-8, Platt-calibrated on fold 9, thresholded for best F1 on fold 9, and only then scored once on fold 10. 3 models x 4 lead sets = 12 trained systems, each tested at 4 noise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here (2 minutes): select an MI example, switch 12-lead to 1-lead, then add 6 dB noise, and show how the MI probability and the SHAP reasons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AUROC is threshold-free and robust to class imbalance; macro averaging gives each of the 5 classes equal weight so rare HYP counts as much as common NORM. CIs: 500 bootstrap resamples.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Statistical test: paired bootstrap on the same test patients, comparing each reduced set to 12-lead for the same model. If the CI of the difference excludes 0 the loss is significant. Per class, MI is hurt most with a single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Clinical link: MI territory is localised (anterior → V1-V4, inferior → II, III, aVF), so lead I alone misses it. Conduction problems widen the QRS in every lead. Highlighted row = largest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SNR 24 dB is a good-contact wearable, 6 dB is a heavily moving arm. Noise mixes baseline wander (breathing), EMG (muscle) and motion transients and is reproducible via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ECE = average gap between predicted probability and observed frequency. For screening, a calibrated 0.30 should mean about 30% of such patients truly have the condition, which lets a clinic set its own referral threshold. Thresholds shown were tuned for F1 on fold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 (TreeSHAP for LightGBM) splits each prediction into feature contributions in log-odds. Aggregating by lead tells a device designer which electrodes matter; the app shows the same breakdown for each individual ECG.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Tree ensembles usually beat the linear baseline because diagnostic patterns are non-linear combinations (e.g. ST elevation only matters together with Q waves).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ready to discuss bias: age and sex distribution, and why a screening tool should favour sensitivity (missing an MI is worse than a false alarm).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answer to the research question in one sentence,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6D4EE"/>
                </a:solidFill>
                <a:latin typeface="Calibri"/>
              </a:rPr>
              <a:t>AUCML · End-Semester Case Study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mbria"/>
              </a:rPr>
              <a:t>Low-Lead ECG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B6D4EE"/>
                </a:solidFill>
                <a:latin typeface="Cambria"/>
              </a:rPr>
              <a:t>Evaluating diagnostic accuracy retention with wearable-style reduced-lead signals using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21,388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6D4EE"/>
                </a:solidFill>
                <a:latin typeface="Calibri"/>
              </a:rPr>
              <a:t>PTB-XL ECGs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8404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12 →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526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6D4EE"/>
                </a:solidFill>
                <a:latin typeface="Calibri"/>
              </a:rPr>
              <a:t>leads compared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8404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526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6D4EE"/>
                </a:solidFill>
                <a:latin typeface="Calibri"/>
              </a:rPr>
              <a:t>ML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8404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0.925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4526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6D4EE"/>
                </a:solidFill>
                <a:latin typeface="Calibri"/>
              </a:rPr>
              <a:t>12-lead macro AUROC (LightGBM)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235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Kashish Chelwani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Course TE7483 · AIML Department · Symbiosis Institute of Technology, Pune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Why reduced-lead ECG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16E7C"/>
                </a:solidFill>
                <a:latin typeface="Calibri"/>
              </a:rPr>
              <a:t>Wearables are everywhere; the 12-lead ECG is not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The gold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306324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A 12-lead ECG needs 10 electrodes, a trained technician and a clinic visit. Many patients are only recorded after symptoms appear.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7373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9202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The wearable reality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359152"/>
            <a:ext cx="306324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Smartwatches record lead I; handheld devices give 6 limb leads; patches 1-3 leads. They can screen continuously, at home, at low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7373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92024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mbria"/>
              </a:rPr>
              <a:t>The open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359152"/>
            <a:ext cx="306324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Which heart conditions can still be detected from fewer leads and noisier signals, and how much accuracy is lost?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Refined problem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2933"/>
                </a:solidFill>
                <a:latin typeface="Calibri"/>
              </a:rPr>
              <a:t>Quantify the loss in multi-label diagnostic accuracy (5 PTB-XL superclasses) when a 12-lead ECG is reduced to 6, 3 or 1 lead, with and without simulated wearable noise, using calibrated and explainable classical ML models, delivered as a screening-support prototype.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Objectives, scope and stakeholders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81328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Classify 5 superclasses: normal, MI, ST/T change, conduction disturbance, hypertrophy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04288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Measure accuracy retention for 12 → 6 → 3 → 1 leads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27248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Stress-test with simulated wearable noise (24, 12, 6 dB SNR)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950208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Compare Logistic Regression, Random Forest and LightGBM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773168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Deliver calibrated probabilities and SHAP explanations in a web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417320"/>
            <a:ext cx="4572000" cy="2240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600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In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39112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Public PTB-XL data · 10 s resting ECGs · lead subsets of clinical recordings · simulated noise · screening support (flag for review).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840480"/>
            <a:ext cx="4572000" cy="224028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mbria"/>
              </a:rPr>
              <a:t>Stakeholders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462272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Patients using wearables · primary-care &amp; rural screening camps · cardiologists triaging · device makers choosing lead count · researchers.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Dataset: PTB-XL v1.0.3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16E7C"/>
                </a:solidFill>
                <a:latin typeface="Calibri"/>
              </a:rPr>
              <a:t>PhysioNet, CC BY 4.0 · Wagner et al., Scientific Data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Cambria"/>
              </a:rPr>
              <a:t>21,388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16E7C"/>
                </a:solidFill>
                <a:latin typeface="Calibri"/>
              </a:rPr>
              <a:t>labelled ECGs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Cambria"/>
              </a:rPr>
              <a:t>18,617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16E7C"/>
                </a:solidFill>
                <a:latin typeface="Calibri"/>
              </a:rPr>
              <a:t>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Cambria"/>
              </a:rPr>
              <a:t>12 × 1000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16E7C"/>
                </a:solidFill>
                <a:latin typeface="Calibri"/>
              </a:rPr>
              <a:t>leads × samples (10 s @ 100 Hz)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Cambria"/>
              </a:rPr>
              <a:t>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16E7C"/>
                </a:solidFill>
                <a:latin typeface="Calibri"/>
              </a:rPr>
              <a:t>ECGs with &gt;1 label</a:t>
            </a:r>
          </a:p>
        </p:txBody>
      </p:sp>
      <p:pic>
        <p:nvPicPr>
          <p:cNvPr id="14" name="Picture 13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846533"/>
            <a:ext cx="7680960" cy="27077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23360" y="5029200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Target: multi-hot vector of 5 superclasses derived from SCP-ECG statements with diagnostic = 1 (411 ECGs without a diagnostic superclass dropped). Patient-wise official folds: 1-8 train (17,084), 9 validation (2,146), 10 test (2,158).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Simulating wearable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16E7C"/>
                </a:solidFill>
                <a:latin typeface="Calibri"/>
              </a:rPr>
              <a:t>Same ECG, fewer leads, more noise</a:t>
            </a:r>
          </a:p>
        </p:txBody>
      </p:sp>
      <p:pic>
        <p:nvPicPr>
          <p:cNvPr id="6" name="Picture 5" descr="02_example_ecg_lead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37" y="1508760"/>
            <a:ext cx="4463764" cy="47548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29400" y="1600200"/>
          <a:ext cx="502919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74519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Leads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Real-world analogue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12-lead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all 12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clinical 12-lead ECG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6-lead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I, II, III, aVR, aVL, aVF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6-lead handheld device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3-lead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I, II, V2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3-lead patch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1-lead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smartwatch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03_noise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026" y="3657600"/>
            <a:ext cx="4195947" cy="2514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6217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16E7C"/>
                </a:solidFill>
                <a:latin typeface="Calibri"/>
              </a:rPr>
              <a:t>Noise = baseline wander + muscle (EMG) + motion artefacts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Preprocessing and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16E7C"/>
                </a:solidFill>
                <a:latin typeface="Calibri"/>
              </a:rPr>
              <a:t>48 interpretable features per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7607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C0392B"/>
                </a:solidFill>
              </a:rPr>
              <a:t>▸  </a:t>
            </a:r>
            <a:r>
              <a:rPr b="1" sz="1500">
                <a:solidFill>
                  <a:srgbClr val="14365D"/>
                </a:solidFill>
                <a:latin typeface="Calibri"/>
              </a:rPr>
              <a:t>Band-pass 0.5-40 Hz </a:t>
            </a:r>
            <a:r>
              <a:rPr sz="1500">
                <a:solidFill>
                  <a:srgbClr val="1F2933"/>
                </a:solidFill>
                <a:latin typeface="Calibri"/>
              </a:rPr>
              <a:t>(3rd-order Butterworth, zero-phase) removes baseline drift and high-frequency noise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C0392B"/>
                </a:solidFill>
              </a:rPr>
              <a:t>▸  </a:t>
            </a:r>
            <a:r>
              <a:rPr b="1" sz="1500">
                <a:solidFill>
                  <a:srgbClr val="14365D"/>
                </a:solidFill>
                <a:latin typeface="Calibri"/>
              </a:rPr>
              <a:t>QRS detection </a:t>
            </a:r>
            <a:r>
              <a:rPr sz="1500">
                <a:solidFill>
                  <a:srgbClr val="1F2933"/>
                </a:solidFill>
                <a:latin typeface="Calibri"/>
              </a:rPr>
              <a:t>polarity-independent derivative-energy detector with adaptive threshold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C0392B"/>
                </a:solidFill>
              </a:rPr>
              <a:t>▸  </a:t>
            </a:r>
            <a:r>
              <a:rPr b="1" sz="1500">
                <a:solidFill>
                  <a:srgbClr val="14365D"/>
                </a:solidFill>
                <a:latin typeface="Calibri"/>
              </a:rPr>
              <a:t>Median beat </a:t>
            </a:r>
            <a:r>
              <a:rPr sz="1500">
                <a:solidFill>
                  <a:srgbClr val="1F2933"/>
                </a:solidFill>
                <a:latin typeface="Calibri"/>
              </a:rPr>
              <a:t>built from all beats (-250 ms to +450 ms around R) for robust morphology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C0392B"/>
                </a:solidFill>
              </a:rPr>
              <a:t>▸  </a:t>
            </a:r>
            <a:r>
              <a:rPr b="1" sz="1500">
                <a:solidFill>
                  <a:srgbClr val="14365D"/>
                </a:solidFill>
                <a:latin typeface="Calibri"/>
              </a:rPr>
              <a:t>Missing values </a:t>
            </a:r>
            <a:r>
              <a:rPr sz="1500">
                <a:solidFill>
                  <a:srgbClr val="1F2933"/>
                </a:solidFill>
                <a:latin typeface="Calibri"/>
              </a:rPr>
              <a:t>0.15% of feature cells (beats not detectable); median-imputed inside each model pipeline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C0392B"/>
                </a:solidFill>
              </a:rPr>
              <a:t>▸  </a:t>
            </a:r>
            <a:r>
              <a:rPr b="1" sz="1500">
                <a:solidFill>
                  <a:srgbClr val="14365D"/>
                </a:solidFill>
                <a:latin typeface="Calibri"/>
              </a:rPr>
              <a:t>No leakage </a:t>
            </a:r>
            <a:r>
              <a:rPr sz="1500">
                <a:solidFill>
                  <a:srgbClr val="1F2933"/>
                </a:solidFill>
                <a:latin typeface="Calibri"/>
              </a:rPr>
              <a:t>imputer, scaler, calibrator and thresholds are all fitted on training/validation folds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0020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7830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Rhythm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221992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HR, RR std, RMSSD, pNN50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60020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7830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Morphology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221992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P, Q, R, S, QRS width/area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97180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1546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ST-T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593592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ST level &amp; slope, T amplitude/area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97180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31546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Spectral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593592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band powers, entropy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34340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5262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Statistics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965192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std, skew, kurtosis, percentiles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434340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45262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Beat template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965192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14-bin median-beat shape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760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16E7C"/>
                </a:solidFill>
                <a:latin typeface="Calibri"/>
              </a:rPr>
              <a:t>Column names are LEAD__feature, so a reduced-lead model simply uses its leads' columns.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Methodology and ML pipeline</a:t>
            </a:r>
          </a:p>
        </p:txBody>
      </p:sp>
      <p:pic>
        <p:nvPicPr>
          <p:cNvPr id="5" name="Picture 4" descr="00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51" y="1325880"/>
            <a:ext cx="10297192" cy="2194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38404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62272"/>
            <a:ext cx="3063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Linear baseline with standardised features and class-balanced weights. Fast, transparent coefficients.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38404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4023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4462272"/>
            <a:ext cx="3063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300 bagged trees, balanced subsampling. Captures non-linear interactions, robust to outliers and noise.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38404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4023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mbria"/>
              </a:rPr>
              <a:t>LightGBM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4462272"/>
            <a:ext cx="3063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Gradient-boosted trees (500 rounds, lr 0.03). State of the art for tabular data; native missing-value handling.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16E7C"/>
                </a:solidFill>
                <a:latin typeface="Calibri"/>
              </a:rPr>
              <a:t>Reproducible: one notebook from raw data to every figure in this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035040" cy="3931920"/>
          </a:xfrm>
          <a:prstGeom prst="roundRect">
            <a:avLst>
              <a:gd name="adj" fmla="val 4000"/>
            </a:avLst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55778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LowLead_ECG_Screening.ipynb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1-4   data, labels, exploration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5-7   filtering, beats, 48 features,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wearable noise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8-11  3 models x 4 lead sets,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    calibration, evaluation, noise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12-15 SHAP, export, report, slides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streamlit_app.py  → interactive demo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tests/            → unit tests (pytest)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754880" cy="2377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7830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Streamlit demo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221992"/>
            <a:ext cx="42976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Pick a held-out PTB-XL ECG or upload a CSV · choose device (12/6/3/1 lead) · add noise · see calibrated probabilities, flagged categories and per-ECG SHAP reasons.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5196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Stack: Python 3.11 · scikit-learn · LightGBM · SHAP · wfdb · Streamlit · Plotly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Versioned on GitHub, deployed on Streamlit Community Cloud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Models exported as portable JSON (no pickle version issues)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Result 1: discrimination by lead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16E7C"/>
                </a:solidFill>
                <a:latin typeface="Calibri"/>
              </a:rPr>
              <a:t>Macro AUROC on the held-out test fold (clean signals)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73152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8160" y="1600200"/>
            <a:ext cx="3520440" cy="4526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78308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221992"/>
            <a:ext cx="306324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LightGBM 12-lead: 0.925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95% CI 0.918-0.931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1-lead: 0.827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Best model per configuration - 12-lead: LightGBM; 6-lead: LightGBM; 3-lead: LightGBM; 1-lead: LightGBM.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Result 2: how much accuracy is retained?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16E7C"/>
                </a:solidFill>
                <a:latin typeface="Calibri"/>
              </a:rPr>
              <a:t>LightGBM, % of its own 12-lead macro AUROC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2F6FA6"/>
                </a:solidFill>
                <a:latin typeface="Cambria"/>
              </a:rPr>
              <a:t>96.4%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16E7C"/>
                </a:solidFill>
                <a:latin typeface="Calibri"/>
              </a:rPr>
              <a:t>6-lead · 6-lead handheld device (limb leads)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16E7C"/>
                </a:solidFill>
                <a:latin typeface="Calibri"/>
              </a:rPr>
              <a:t>ΔAUROC -0.033 (95% CI -0.039 to -0.029), a statistically significant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160020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6AA6D6"/>
                </a:solidFill>
                <a:latin typeface="Cambria"/>
              </a:rPr>
              <a:t>97.5%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16E7C"/>
                </a:solidFill>
                <a:latin typeface="Calibri"/>
              </a:rPr>
              <a:t>3-lead · 3-lead patch (I, II, V2)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269748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16E7C"/>
                </a:solidFill>
                <a:latin typeface="Calibri"/>
              </a:rPr>
              <a:t>ΔAUROC -0.023 (95% CI -0.028 to -0.019), a statistically significant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160020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67E22"/>
                </a:solidFill>
                <a:latin typeface="Cambria"/>
              </a:rPr>
              <a:t>89.5%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1856" y="2331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16E7C"/>
                </a:solidFill>
                <a:latin typeface="Calibri"/>
              </a:rPr>
              <a:t>1-lead · smartwatch (lead 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269748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16E7C"/>
                </a:solidFill>
                <a:latin typeface="Calibri"/>
              </a:rPr>
              <a:t>ΔAUROC -0.097 (95% CI -0.107 to -0.088), a statistically significant loss</a:t>
            </a:r>
          </a:p>
        </p:txBody>
      </p:sp>
      <p:pic>
        <p:nvPicPr>
          <p:cNvPr id="15" name="Picture 14" descr="05_reten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95518"/>
            <a:ext cx="6035039" cy="2301602"/>
          </a:xfrm>
          <a:prstGeom prst="rect">
            <a:avLst/>
          </a:prstGeom>
        </p:spPr>
      </p:pic>
      <p:pic>
        <p:nvPicPr>
          <p:cNvPr id="16" name="Picture 15" descr="06_per_class_au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548652"/>
            <a:ext cx="4846320" cy="2549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Result 3: which diagnoses survive lead reduction?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17320"/>
                <a:gridCol w="1417320"/>
                <a:gridCol w="1417320"/>
                <a:gridCol w="1417320"/>
                <a:gridCol w="20116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12-lead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6-lead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3-lead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1-lead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1-lead retention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NORM · Normal ECG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0.942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0.925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0.880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93.4%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MI · Myocardial infarction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0.912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0.885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0.771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84.5%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STTC · ST/T change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0.939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0.918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0.925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CD · Conduction disturbance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0.889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0.908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0.809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88.2%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HYP · Hypertrophy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0.913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0.862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0.805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88.1%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mbria"/>
              </a:rPr>
              <a:t>Most affected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53712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MI (Myocardial infarction) keeps only 84.5% of its 12-lead AUROC with lead I. Its signs (Q waves, ST shifts) are localised to chest or inferior leads that a watch cannot see.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Most robust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553712"/>
            <a:ext cx="4937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  <a:latin typeface="Calibri"/>
              </a:rPr>
              <a:t>NORM (Normal ECG) keeps 93.4%. Global changes (heart rate, QRS width, overall amplitude) are visible in any lead.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Result 4: robustness to wearable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16E7C"/>
                </a:solidFill>
                <a:latin typeface="Calibri"/>
              </a:rPr>
              <a:t>LightGBM trained on clean ECGs, tested on noisy ECGs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600200"/>
            <a:ext cx="3794760" cy="45262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AUROC drop at 6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221992"/>
            <a:ext cx="333756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12-lead: −0.007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6-lead: −0.005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3-lead: −0.010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1-lead: −0.010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Most noise-sensitive: 1-lead.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Fewer leads = less redundancy to average noise away.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Result 5: calibrated, trustworthy probabilities</a:t>
            </a:r>
          </a:p>
        </p:txBody>
      </p:sp>
      <p:pic>
        <p:nvPicPr>
          <p:cNvPr id="5" name="Picture 4" descr="09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0567"/>
            <a:ext cx="7498079" cy="3093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0876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616E7C"/>
                </a:solidFill>
                <a:latin typeface="Cambria"/>
              </a:rPr>
              <a:t>0.031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16E7C"/>
                </a:solidFill>
                <a:latin typeface="Calibri"/>
              </a:rPr>
              <a:t>ECE before calibration (12-lead)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88036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0392B"/>
                </a:solidFill>
                <a:latin typeface="Cambria"/>
              </a:rPr>
              <a:t>0.017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6118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16E7C"/>
                </a:solidFill>
                <a:latin typeface="Calibri"/>
              </a:rPr>
              <a:t>ECE after Platt scaling</a:t>
            </a:r>
          </a:p>
        </p:txBody>
      </p:sp>
      <p:pic>
        <p:nvPicPr>
          <p:cNvPr id="10" name="Picture 9" descr="10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113" y="4709160"/>
            <a:ext cx="7057292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Result 6: explainability with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16E7C"/>
                </a:solidFill>
                <a:latin typeface="Calibri"/>
              </a:rPr>
              <a:t>What the models look at, per lead and per feature group</a:t>
            </a:r>
          </a:p>
        </p:txBody>
      </p:sp>
      <p:pic>
        <p:nvPicPr>
          <p:cNvPr id="6" name="Picture 5" descr="12_shap_leads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0628"/>
            <a:ext cx="11064240" cy="35253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12-lead model: lead V6 carries 11% of attribution; top features V6: T amplitude, aVF: beat shape bin 4, aVL: Q depth.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1-lead model: top features I: T amplitude, I: T max, I: beat shape bin 9.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16E7C"/>
                </a:solidFill>
                <a:latin typeface="Calibri"/>
              </a:rPr>
              <a:t>All models, test fold, clean signals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59668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66444"/>
                <a:gridCol w="1266444"/>
                <a:gridCol w="1266444"/>
                <a:gridCol w="1266444"/>
                <a:gridCol w="1266444"/>
                <a:gridCol w="1266444"/>
                <a:gridCol w="1266444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AUROC 12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AUROC 1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Retention 1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AUPRC 12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F1 12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F1 1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ECE 12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0.813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90.6%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0.754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0.703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0.590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0.023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</a:rPr>
                        <a:t>RandomForest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0.910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0.824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90.5%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0.779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0.718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0.605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F2933"/>
                          </a:solidFill>
                          <a:latin typeface="Calibri"/>
                        </a:rPr>
                        <a:t>LightGBM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0.925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0.827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89.5%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0.817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0.744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0.614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0.017</a:t>
                      </a:r>
                    </a:p>
                  </a:txBody>
                  <a:tcPr marL="73152" marR="73152">
                    <a:solidFill>
                      <a:srgbClr val="FBEE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154680"/>
          <a:ext cx="585216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12-lead, LightGBM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>
                    <a:solidFill>
                      <a:srgbClr val="14365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NORM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0.911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0.813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0.850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0.731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0.898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0.720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STTC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0.915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0.769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CD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0.738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0.933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0.752</a:t>
                      </a:r>
                    </a:p>
                  </a:txBody>
                  <a:tcPr marL="73152" marR="73152">
                    <a:solidFill>
                      <a:srgbClr val="EEF3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</a:rPr>
                        <a:t>HYP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0.668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0.936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</a:rPr>
                        <a:t>0.627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3154680"/>
            <a:ext cx="4892040" cy="21945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33756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365D"/>
                </a:solidFill>
                <a:latin typeface="Cambria"/>
              </a:rPr>
              <a:t>Reading the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776472"/>
            <a:ext cx="4434840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AUROC: ranking quality, threshold-free. AUPRC: precision under imbalance. F1: at the tuned threshold. ECE: probability reliability. Retention: share of the model's own 12-lead AUROC.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Limitations and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67512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C0392B"/>
                </a:solidFill>
              </a:rPr>
              <a:t>▸  </a:t>
            </a:r>
            <a:r>
              <a:rPr b="1" sz="1700">
                <a:solidFill>
                  <a:srgbClr val="14365D"/>
                </a:solidFill>
                <a:latin typeface="Calibri"/>
              </a:rPr>
              <a:t>Not real wearables </a:t>
            </a:r>
            <a:r>
              <a:rPr sz="1700">
                <a:solidFill>
                  <a:srgbClr val="1F2933"/>
                </a:solidFill>
                <a:latin typeface="Calibri"/>
              </a:rPr>
              <a:t>reduced leads are subsets of clinical recordings with ideal electrode placement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C0392B"/>
                </a:solidFill>
              </a:rPr>
              <a:t>▸  </a:t>
            </a:r>
            <a:r>
              <a:rPr b="1" sz="1700">
                <a:solidFill>
                  <a:srgbClr val="14365D"/>
                </a:solidFill>
                <a:latin typeface="Calibri"/>
              </a:rPr>
              <a:t>Simulated noise </a:t>
            </a:r>
            <a:r>
              <a:rPr sz="1700">
                <a:solidFill>
                  <a:srgbClr val="1F2933"/>
                </a:solidFill>
                <a:latin typeface="Calibri"/>
              </a:rPr>
              <a:t>real motion artefacts and dry-electrode contact vary more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C0392B"/>
                </a:solidFill>
              </a:rPr>
              <a:t>▸  </a:t>
            </a:r>
            <a:r>
              <a:rPr b="1" sz="1700">
                <a:solidFill>
                  <a:srgbClr val="14365D"/>
                </a:solidFill>
                <a:latin typeface="Calibri"/>
              </a:rPr>
              <a:t>Single-centre data </a:t>
            </a:r>
            <a:r>
              <a:rPr sz="1700">
                <a:solidFill>
                  <a:srgbClr val="1F2933"/>
                </a:solidFill>
                <a:latin typeface="Calibri"/>
              </a:rPr>
              <a:t>PTB-XL comes from one German hospital (1989-1996); external validation needed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C0392B"/>
                </a:solidFill>
              </a:rPr>
              <a:t>▸  </a:t>
            </a:r>
            <a:r>
              <a:rPr b="1" sz="1700">
                <a:solidFill>
                  <a:srgbClr val="14365D"/>
                </a:solidFill>
                <a:latin typeface="Calibri"/>
              </a:rPr>
              <a:t>Coarse labels </a:t>
            </a:r>
            <a:r>
              <a:rPr sz="1700">
                <a:solidFill>
                  <a:srgbClr val="1F2933"/>
                </a:solidFill>
                <a:latin typeface="Calibri"/>
              </a:rPr>
              <a:t>5 superclasses hide sub-types (e.g. anterior vs inferior MI)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C0392B"/>
                </a:solidFill>
              </a:rPr>
              <a:t>▸  </a:t>
            </a:r>
            <a:r>
              <a:rPr b="1" sz="1700">
                <a:solidFill>
                  <a:srgbClr val="14365D"/>
                </a:solidFill>
                <a:latin typeface="Calibri"/>
              </a:rPr>
              <a:t>Screening only </a:t>
            </a:r>
            <a:r>
              <a:rPr sz="1700">
                <a:solidFill>
                  <a:srgbClr val="1F2933"/>
                </a:solidFill>
                <a:latin typeface="Calibri"/>
              </a:rPr>
              <a:t>a flag must be confirmed with a full 12-lead ECG and a clinician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63040"/>
            <a:ext cx="4023360" cy="3108960"/>
          </a:xfrm>
          <a:prstGeom prst="roundRect">
            <a:avLst>
              <a:gd name="adj" fmla="val 6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645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mbria"/>
              </a:rPr>
              <a:t>Safeguards built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084832"/>
            <a:ext cx="35661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• Disclaimer on every app page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• Calibrated probabilities, not hard labels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• Per-ECG SHAP reasons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• Patient-wise test split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• Bootstrap CIs on every headline number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Conclusion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766560" cy="29260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C0392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Reducing to the 6 limb leads retained 96.4% of 12-lead AUROC, the 3-lead set (I, II, V2) 97.5%, and a single smartwatch-style lead I 89.5%.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C0392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Removing leads hurt MI (Myocardial infarction) the most: with lead I alone it kept only 84.5% of its 12-lead AUROC, while NORM kept 93.4%.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C0392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Under strong simulated wearable noise (6 dB SNR) macro AUROC fell by 0.007 for 12 leads and 0.010 for 1 lead; the 1-lead configuration was the most noise-sensitive.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4348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0.925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6D4EE"/>
                </a:solidFill>
                <a:latin typeface="Calibri"/>
              </a:rPr>
              <a:t>12-lead AUROC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44348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0.892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5029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6D4EE"/>
                </a:solidFill>
                <a:latin typeface="Calibri"/>
              </a:rPr>
              <a:t>6-lead AUROC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4348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0.901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029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6D4EE"/>
                </a:solidFill>
                <a:latin typeface="Calibri"/>
              </a:rPr>
              <a:t>3-lead AUROC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44348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0.827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5029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6D4EE"/>
                </a:solidFill>
                <a:latin typeface="Calibri"/>
              </a:rPr>
              <a:t>1-lead AUROC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3716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6D4EE"/>
                </a:solidFill>
                <a:latin typeface="Cambria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38404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1-D CNN / transformer on raw signals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Train with noise augmentation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Validate on real smartwatch ECGs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Lead-specific attention to recover MI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• Rhythm classes (AF) and edge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6D4EE"/>
                </a:solidFill>
                <a:latin typeface="Calibri"/>
              </a:rPr>
              <a:t>Screening-support prototype · not a diagnostic device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16E7C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16E7C"/>
                </a:solidFill>
                <a:latin typeface="Calibri"/>
              </a:rPr>
              <a:t>Low-Lead ECG Screening · AUCML 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365D"/>
                </a:solidFill>
                <a:latin typeface="Cambria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[1]  Wagner P. et al. PTB-XL, a large publicly available electrocardiography dataset. Sci Data 7, 154 (2020).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[2]  Goldberger A. et al. PhysioBank, PhysioToolkit and PhysioNet. Circulation 101(23), e215-e220 (2000).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[3]  Strodthoff N. et al. Deep learning for ECG analysis: benchmarks and insights from PTB-XL. IEEE JBHI 25(5), 1519-1528 (2021).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[4]  Ke G. et al. LightGBM: a highly efficient gradient boosting decision tree. NeurIPS (2017).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[5]  Lundberg S., Lee S.-I. A unified approach to interpreting model predictions. NeurIPS (2017).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[6]  Platt J. Probabilistic outputs for support vector machines. Advances in Large Margin Classifiers (1999).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[7]  Pedregosa F. et al. Scikit-learn: machine learning in Python. JMLR 12, 2825-2830 (2011).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[8]  Moody G., Muldrow W., Mark R. A noise stress test for arrhythmia detectors. Computers in Cardiology 11 (1984).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